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 (Path Coefficient)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3A-4A80-809B-60FAB35D9A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3A-4A80-809B-60FAB35D9A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3A-4A80-809B-60FAB35D9A7D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3A-4A80-809B-60FAB35D9A7D}"/>
              </c:ext>
            </c:extLst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C3A-4A80-809B-60FAB35D9A7D}"/>
              </c:ext>
            </c:extLst>
          </c:dPt>
          <c:dPt>
            <c:idx val="5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C3A-4A80-809B-60FAB35D9A7D}"/>
              </c:ext>
            </c:extLst>
          </c:dPt>
          <c:dPt>
            <c:idx val="6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C3A-4A80-809B-60FAB35D9A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SMM → PI</c:v>
                </c:pt>
                <c:pt idx="1">
                  <c:v>PI → CSB</c:v>
                </c:pt>
                <c:pt idx="2">
                  <c:v>US → PI</c:v>
                </c:pt>
                <c:pt idx="3">
                  <c:v>DL → CSB</c:v>
                </c:pt>
                <c:pt idx="4">
                  <c:v>DL×PI → CSB</c:v>
                </c:pt>
                <c:pt idx="5">
                  <c:v>SMM → CSB</c:v>
                </c:pt>
                <c:pt idx="6">
                  <c:v>US → CSB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0.496</c:v>
                </c:pt>
                <c:pt idx="2">
                  <c:v>0.38100000000000001</c:v>
                </c:pt>
                <c:pt idx="3">
                  <c:v>0.32200000000000001</c:v>
                </c:pt>
                <c:pt idx="4">
                  <c:v>9.9000000000000005E-2</c:v>
                </c:pt>
                <c:pt idx="5">
                  <c:v>0.112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C3A-4A80-809B-60FAB35D9A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78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RESEARCH PAPER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Impact of Digital Marketing 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Consumer Spending Behaviour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8E8"/>
                </a:solidFill>
              </a:rPr>
              <a:t>Samiksha Bondade  |  Sapna Gautam  |  Divyashree Durga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BBF"/>
                </a:solidFill>
              </a:rPr>
              <a:t>Faculty of Management Studies, Marwadi University, Rajkot, Gujarat — 360003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526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Keywords: Social Media Marketing  •  Purchase Intention  •  User Satisfaction  •  Digital Literacy  •  Consumer Spending Behaviour  •  PLS-SEM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ABSTRACT &amp; PURPOSE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Investigate how Social Media Marketing (SMM) affects Consumer Spending Behaviour (CSB) by integrating Digital Literacy, Purchase Intention, and User Satisfaction.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Method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Quantitative research using a standardised questionnaire. PLS-SEM used to assess measurement and structural models including moderation &amp; mediation effects.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6400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SMM strongly impacts Purchase Intention → Consumer Spending Behaviour. User Satisfaction mediates. Digital Literacy moderates and directly influences CSB.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6400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First study to jointly model mediation (PI) and moderation (DL) effects in a unified PLS-SEM framework for digital consumer behaviour.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0" cy="11887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2801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SMM &amp; Brand Outcomes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SMM activities (entertainment, interaction, trendiness, customization) drive brand image, brand loyalty, and customer acquisition. Higher SMM engagement → increased consumer engagement.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640080" cy="11887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6060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Online Advertising &amp; Buying Patterns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72491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Multi-channel digital marketing (email, social media, mobile, content) each significantly impacts purchasing decisions. Live streaming commerce combines entertainment with real-time commerce.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640080" cy="11887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9319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6850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Theoretical Frameworks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5079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4057"/>
                </a:solidFill>
              </a:rPr>
              <a:t>S-O-R Theory, AI-driven personalisation, Perceived Value &amp; Satisfaction models, Relationship Marketing. Social media indirectly shapes behaviour via Purchase Intention and User Satisfaction.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CONCEPTUAL RESEARCH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3509" y="1613915"/>
            <a:ext cx="1828800" cy="777240"/>
          </a:xfrm>
          <a:prstGeom prst="round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583871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Social Media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Marketing (SMM)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1648" y="3589673"/>
            <a:ext cx="1828800" cy="77724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1647" y="3559629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Satisfaction (US)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60696" y="2728826"/>
            <a:ext cx="1828800" cy="77724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2960696" y="2736669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Purchase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Intention (PI)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860" y="1598892"/>
            <a:ext cx="1874520" cy="77724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9275" y="1600199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Digital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Literacy (DL)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4385" y="2824190"/>
            <a:ext cx="2103120" cy="777240"/>
          </a:xfrm>
          <a:prstGeom prst="roundRect">
            <a:avLst/>
          </a:prstGeom>
          <a:solidFill>
            <a:srgbClr val="13274D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025895" y="283986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Consumer Spending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Behaviour (CSB)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25979" y="2061969"/>
            <a:ext cx="848417" cy="89611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240281" y="3224564"/>
            <a:ext cx="725966" cy="811857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89495" y="3224566"/>
            <a:ext cx="1244889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35125" y="1919589"/>
            <a:ext cx="3899259" cy="1145607"/>
          </a:xfrm>
          <a:prstGeom prst="line">
            <a:avLst/>
          </a:prstGeom>
          <a:noFill/>
          <a:ln w="15240">
            <a:solidFill>
              <a:srgbClr val="A0B8D8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2280447" y="3370218"/>
            <a:ext cx="3745448" cy="777240"/>
          </a:xfrm>
          <a:prstGeom prst="line">
            <a:avLst/>
          </a:prstGeom>
          <a:noFill/>
          <a:ln w="15240">
            <a:solidFill>
              <a:srgbClr val="A0B8D8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98947" y="2377440"/>
            <a:ext cx="0" cy="847126"/>
          </a:xfrm>
          <a:prstGeom prst="line">
            <a:avLst/>
          </a:prstGeom>
          <a:noFill/>
          <a:ln w="17780">
            <a:solidFill>
              <a:srgbClr val="02C39A"/>
            </a:solidFill>
            <a:prstDash val="sysDot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340095" y="257991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DL→CSB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3200400" cy="438912"/>
          </a:xfrm>
          <a:prstGeom prst="roundRect">
            <a:avLst/>
          </a:prstGeom>
          <a:solidFill>
            <a:srgbClr val="F0F5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553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</a:rPr>
              <a:t>PI mediates: SMM→CSB (H6) &amp; US→CSB (H7)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005840"/>
            <a:ext cx="2468880" cy="1463040"/>
          </a:xfrm>
          <a:prstGeom prst="rect">
            <a:avLst/>
          </a:prstGeom>
          <a:solidFill>
            <a:srgbClr val="F0F5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0515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LEGEND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1466959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556862" y="1353312"/>
            <a:ext cx="11482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Significant path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1783080"/>
            <a:ext cx="457200" cy="0"/>
          </a:xfrm>
          <a:prstGeom prst="line">
            <a:avLst/>
          </a:prstGeom>
          <a:noFill/>
          <a:ln w="15240">
            <a:solidFill>
              <a:srgbClr val="A0B8D8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556862" y="1691640"/>
            <a:ext cx="11482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Non-significant path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20840" y="2148840"/>
            <a:ext cx="457200" cy="0"/>
          </a:xfrm>
          <a:prstGeom prst="line">
            <a:avLst/>
          </a:prstGeom>
          <a:noFill/>
          <a:ln w="17780">
            <a:solidFill>
              <a:srgbClr val="02C39A"/>
            </a:solidFill>
            <a:prstDash val="sysDot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556862" y="2029968"/>
            <a:ext cx="11482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Moderation (DL × PI)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HYPOTHESES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14300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95097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Social media marketing significantly increases purchase intention.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14884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Social media marketing significantly improves consumer spending behaviour.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</a:rPr>
              <a:t>✘ Not Supported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15468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96265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User satisfaction significantly enhances purchase intention.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502920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416052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96849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User satisfaction significantly improves consumer spending behaviour.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480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</a:rPr>
              <a:t>✘ Not Supported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114300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95097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Purchase intention significantly influences consumer spending behaviour.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924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14884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9568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Purchase intention mediates SMM → Consumer Spending Behaviour.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2468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15468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96265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Purchase intention mediates User Satisfaction → Consumer Spending Behaviour.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3474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31920"/>
            <a:ext cx="5029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16052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96849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Digital literacy moderates the link between Purchase Intention and CSB.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49240" y="4480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✔ Supported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SAMPLE &amp; DATA COLLECTION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188720"/>
          </a:xfrm>
          <a:prstGeom prst="rect">
            <a:avLst/>
          </a:prstGeom>
          <a:solidFill>
            <a:srgbClr val="1B2B5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216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</a:rPr>
              <a:t>Total Responses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188720"/>
          </a:xfrm>
          <a:prstGeom prst="rect">
            <a:avLst/>
          </a:prstGeom>
          <a:solidFill>
            <a:srgbClr val="1B2B5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875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~10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</a:rPr>
              <a:t>Missing Values Handled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188720"/>
          </a:xfrm>
          <a:prstGeom prst="rect">
            <a:avLst/>
          </a:prstGeom>
          <a:solidFill>
            <a:srgbClr val="1B2B5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875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5-pt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</a:rPr>
              <a:t>Likert Scale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188720"/>
          </a:xfrm>
          <a:prstGeom prst="rect">
            <a:avLst/>
          </a:prstGeom>
          <a:solidFill>
            <a:srgbClr val="1B2B5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875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PLS-SEM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</a:rPr>
              <a:t>Analysis Method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Demographic Profile of Respondents (n = 216)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8595360" cy="2331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Age 18–25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84.58%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Gender: Female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52.36%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Age 26–35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7.94%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Gender: Male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46.23%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Occupation: Student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78.97%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Online Shop: Monthly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42.79%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Occupation: Employed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13.55%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Online Shop: Rarely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40.00%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QUESTIONNAIRE — MEASUREMENT ITEMS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All constructs measured on a 5-point Likert Scale (1 = Strongly Disagree → 5 = Strongly Agree) via Google Forms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4206240" cy="347472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71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Social Media Marketing (SMM)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I often discover new products through social media.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Social media ads influence my interest in products.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Influencers on social media affect my buying decision.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2496312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496312"/>
            <a:ext cx="420624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5328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Satisfaction (US)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I am satisfied with my online shopping experience.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I trust brands that actively promote on social media.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Online shopping websites/apps are easy to use.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3758184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758184"/>
            <a:ext cx="420624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Purchase Intention (PI)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14223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Positive reviews on social media make me want to buy.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I intend to purchase products I see advertised online.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I often plan to purchase products online in the future.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42062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271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Digital Literacy (DL)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I am confident using digital platforms for shopping.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I can easily compare products online before buying.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I know how to identify trustworthy online sellers.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496312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496312"/>
            <a:ext cx="4206240" cy="3474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328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Consumer Spending Behaviour (CSB)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1. I frequently purchase products online.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2. Social media promotions increase my spending.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3. Discounts and offers on social media increase spending.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 — PLS-SEM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91440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0" cy="9144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78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5E"/>
                </a:solidFill>
              </a:rPr>
              <a:t>Measurement Model Assessment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</a:rPr>
              <a:t>Outer loadings &gt; 0.70 ✓   Composite Reliability &gt; 0.70 ✓   AVE &gt; 0.50 ✓   VIF &lt; 5 (no multicollinearity) 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5303520" cy="91440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457200" cy="9144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002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5E"/>
                </a:solidFill>
              </a:rPr>
              <a:t>Structural Model Evaluation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32257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</a:rPr>
              <a:t>Path coefficients, t-values, p-values via bootstrapping. R² measured for explanatory power. Effect size (f²) computed.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5303520" cy="91440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62656"/>
            <a:ext cx="457200" cy="9144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026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5E"/>
                </a:solidFill>
              </a:rPr>
              <a:t>Mediation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34670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</a:rPr>
              <a:t>Indirect effects of PI between SMM, US, and Consumer Spending Behaviour tested and confirmed.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5303520" cy="914400"/>
          </a:xfrm>
          <a:prstGeom prst="rect">
            <a:avLst/>
          </a:prstGeom>
          <a:solidFill>
            <a:srgbClr val="F0F5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86784"/>
            <a:ext cx="457200" cy="9144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5E"/>
                </a:solidFill>
              </a:rPr>
              <a:t>Moderation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437083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4057"/>
                </a:solidFill>
              </a:rPr>
              <a:t>Interaction term DL × PI created. Assessed moderating role of Digital Literacy on PI → CSB path.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914400"/>
            <a:ext cx="2926080" cy="4023360"/>
          </a:xfrm>
          <a:prstGeom prst="rect">
            <a:avLst/>
          </a:prstGeom>
          <a:solidFill>
            <a:srgbClr val="1B2B5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Reliability &amp; Validity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1371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C8E8"/>
                </a:solidFill>
              </a:rPr>
              <a:t>Construct   CR       AVE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SMM       0.911    0.720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8932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       0.899    0.748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       0.912    0.776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       0.893    0.736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8932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CSB       0.932    0.820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All CR &gt; 0.70 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All AVE &gt; 0.50 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STRUCTURAL MODEL — HYPOTHESIS RESULTS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402336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T-Stat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SMM → Purchase Intention (H1)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8.689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✔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SMM → Consumer Spending (H2)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1.804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0.072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</a:rPr>
                        <a:t>✘ Not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User Satisfaction → PI (H3)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5.984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✔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User Satisfaction → CSB (H4)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0.020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0.263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0.793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</a:rPr>
                        <a:t>✘ Not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Purchase Intention → CSB (H5)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0.496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5.935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✔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Digital Literacy → CSB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0.322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4.997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✔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DL × PI → CSB (Moderation H8)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0.099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3.397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✔ Supported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RESULTS — MODEL FIT &amp; EFFECT SIZES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Explanatory Power (R²)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1887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53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Purchase Intention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R² = 0.638  (Moderate to Substantial)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3657600" cy="201168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29968"/>
            <a:ext cx="2333549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697480"/>
            <a:ext cx="4114800" cy="11887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70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Consumer Spending Behaviour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R² = 0.696  (Substantial)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47288"/>
            <a:ext cx="3657600" cy="201168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447288"/>
            <a:ext cx="254569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Effect Sizes (f²)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35024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SMM → 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1408176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408176"/>
            <a:ext cx="1828800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3350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0.412 (Large)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792224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2880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PI → CSB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1901952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1901952"/>
            <a:ext cx="1382573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828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0.270 (Moderate)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322576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US → 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2395728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2395728"/>
            <a:ext cx="1223833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322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0.239 (Moderate)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779776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816352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DL → CSB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2889504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7960" y="2889504"/>
            <a:ext cx="727131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0.142 (Small-Med)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273552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310128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DL×PI → CSB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383280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7960" y="3383280"/>
            <a:ext cx="225308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33101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0.044 (Small)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767328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803904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SMM → CSB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37960" y="3877056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7960" y="3877056"/>
            <a:ext cx="87051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8039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0.017 (Small)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4261104"/>
            <a:ext cx="4023360" cy="41148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29768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US → CSB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37960" y="4370832"/>
            <a:ext cx="1828800" cy="182880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7960" y="4370832"/>
            <a:ext cx="51206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2976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4057"/>
                </a:solidFill>
              </a:rPr>
              <a:t>0.000 (None)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Model Fit:  SRMR = 0.067 (&lt; 0.08 ✓)    NFI = 0.796 ✓    d_ULS = 0.539    Chi-square = 423.921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MEDIATION &amp; MODERATION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5097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MEDIATION (Purchase Intention)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2646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H6: PI mediates SMM → CSB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SMM influences CSB indirectly through PI.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96596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97510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H7: PI mediates US → CSB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Satisfaction drives PI, which drives spending.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237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Direct effect SMM → CSB: β = 0.112, p = 0.072 (NS)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Total effect SMM → CSB: β = 0.360, p &lt; 0.05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306324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7238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Direct effect US → CSB: β = 0.020, p = 0.793 (NS)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Total effect US → CSB: β = 0.209, p &lt; 0.05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611880"/>
            <a:ext cx="3931920" cy="5029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62102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Conclusion: Purchase Intention is the KEY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mediating mechanism between digital marketing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activities and actual consumer behaviour.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50976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MODERATION (Digital Literacy)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141732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42646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H8: DL moderates PI → CSB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β = 0.099, t = 3.397, p = 0.001 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28032" y="196596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97510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Digital Literacy directly predicts CSB: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β = 0.322, t = 4.997, p &lt; 0.001 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28032" y="251460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5237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Higher DL = better ability to assess online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content and execute purchase intentions.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3063240"/>
            <a:ext cx="3931920" cy="502920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07238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DL enhances the PI → CSB relationship: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digitally skilled consumers convert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      intentions to purchases more effectively.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3611880"/>
            <a:ext cx="3931920" cy="5029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62102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Conclusion: Digital Literacy is both 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direct driver AND a critical moderator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of consumer spending in digital contexts.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PATH COEFFICIENTS — VISUAL SUMMARY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96112"/>
          <a:ext cx="8595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CONCLUSIONS &amp;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704088"/>
          </a:xfrm>
          <a:prstGeom prst="rect">
            <a:avLst/>
          </a:prstGeom>
          <a:solidFill>
            <a:srgbClr val="16235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804672"/>
            <a:ext cx="54864" cy="7040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778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SMM strongly drives Purchase Intention (β = 0.500), which in turn drives Consumer Spending Behaviour (β = 0.496).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09344"/>
            <a:ext cx="8321040" cy="704088"/>
          </a:xfrm>
          <a:prstGeom prst="rect">
            <a:avLst/>
          </a:prstGeom>
          <a:solidFill>
            <a:srgbClr val="16235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9344"/>
            <a:ext cx="54864" cy="7040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82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Purchase Intention is the KEY mediator — SMM and User Satisfaction influence spending INDIRECTLY through 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14016"/>
            <a:ext cx="8321040" cy="704088"/>
          </a:xfrm>
          <a:prstGeom prst="rect">
            <a:avLst/>
          </a:prstGeom>
          <a:solidFill>
            <a:srgbClr val="162350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414016"/>
            <a:ext cx="54864" cy="7040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87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Digital Literacy is a significant moderator (β = 0.099) AND direct predictor (β = 0.322) of Consumer Spending Behaviour.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8321040" cy="704088"/>
          </a:xfrm>
          <a:prstGeom prst="rect">
            <a:avLst/>
          </a:prstGeom>
          <a:solidFill>
            <a:srgbClr val="1623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3218688"/>
            <a:ext cx="54864" cy="7040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Model explains 63.8% variance in PI and 69.6% in CSB — substantial explanatory power confirmed.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23360"/>
            <a:ext cx="8321040" cy="704088"/>
          </a:xfrm>
          <a:prstGeom prst="rect">
            <a:avLst/>
          </a:prstGeom>
          <a:solidFill>
            <a:srgbClr val="1623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4023360"/>
            <a:ext cx="54864" cy="7040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09651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Practical: Businesses should invest in engaging SMM content + digital literacy programs to maximise conversion rates.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Future Research: Expand to diverse demographics • Include trust &amp; perceived risk • Longitudinal studies • Cross-platform comparisons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1396</Words>
  <Application>Microsoft Office PowerPoint</Application>
  <PresentationFormat>On-screen Show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Digital Marketing on Consumer Spending Behaviour</dc:title>
  <dc:subject>PptxGenJS Presentation</dc:subject>
  <dc:creator>PptxGenJS</dc:creator>
  <cp:lastModifiedBy>prajwalchangalimath@gmail.com</cp:lastModifiedBy>
  <cp:revision>2</cp:revision>
  <dcterms:created xsi:type="dcterms:W3CDTF">2026-04-21T13:07:36Z</dcterms:created>
  <dcterms:modified xsi:type="dcterms:W3CDTF">2026-04-21T13:32:00Z</dcterms:modified>
</cp:coreProperties>
</file>